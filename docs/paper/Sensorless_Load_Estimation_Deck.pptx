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63b36a3-54c6-4cc3-efc3-e96218f67197}">
          <p14:sldIdLst>
            <p14:sldId id="256"/>
            <p14:sldId id="257"/>
          </p14:sldIdLst>
        </p14:section>
        <p14:section name="Motivation" id="{04c94f58-162d-2784-16c8-74452b5a9746}">
          <p14:sldIdLst>
            <p14:sldId id="258"/>
            <p14:sldId id="259"/>
          </p14:sldIdLst>
        </p14:section>
        <p14:section name="Architecture" id="{230f1005-7ddb-f010-f2fb-bc53842792f1}">
          <p14:sldIdLst>
            <p14:sldId id="260"/>
            <p14:sldId id="261"/>
          </p14:sldIdLst>
        </p14:section>
        <p14:section name="Modbus" id="{96d6aae7-b3ad-26d0-eb60-25e53a49d501}">
          <p14:sldIdLst>
            <p14:sldId id="262"/>
            <p14:sldId id="263"/>
          </p14:sldIdLst>
        </p14:section>
        <p14:section name="HMI" id="{c77016d8-a26f-e838-c968-e5151231ee06}">
          <p14:sldIdLst>
            <p14:sldId id="264"/>
          </p14:sldIdLst>
        </p14:section>
        <p14:section name="Methodology" id="{a4afa235-b472-3765-1fa8-129e796f0dec}">
          <p14:sldIdLst>
            <p14:sldId id="265"/>
            <p14:sldId id="266"/>
          </p14:sldIdLst>
        </p14:section>
        <p14:section name="Results" id="{87616e2f-5ced-bc67-2bb3-4e1bf80b73b0}">
          <p14:sldIdLst>
            <p14:sldId id="267"/>
            <p14:sldId id="268"/>
          </p14:sldIdLst>
        </p14:section>
        <p14:section name="Conclusion" id="{9d93e669-15ed-4084-40a5-3833322c9099}">
          <p14:sldIdLst>
            <p14:sldId id="269"/>
          </p14:sldIdLst>
        </p14:section>
        <p14:section name="Default-1" id="{36d98522-4b3b-a2a1-11f9-c18a228b488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placeholder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placeholder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placeholder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06040"/>
            <a:ext cx="1109167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placeholder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Sensorless Load Estimation Using Motor Slip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46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Low-Cost VFD-Driven Induction Motor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3977640"/>
            <a:ext cx="201168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1605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Salisbury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 and Engineering Science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States Lee College of Engineering — University of North Carolina at Charlotte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11512" y="1188720"/>
            <a:ext cx="1188720" cy="11887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0579" y="149778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19072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85493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7180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sensorless load estimation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67784" y="146304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42104" y="1719072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525" y="188549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96384" y="242316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96384" y="297180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VFD, controller, HMI, and the signal path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86928" y="146304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61248" y="1719072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669" y="188549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5528" y="242316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Modbus / RS-485 Interface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415528" y="297180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drive's own telemetry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867912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03433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45720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Slip Methodology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12064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load proxy signals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67784" y="361188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42104" y="3867912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525" y="4034333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96384" y="45720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Validation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96384" y="512064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confirmed so far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86928" y="361188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61248" y="3867912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669" y="4034333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15528" y="45720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415528" y="512064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future work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Load Sensing Is Expensive to Retrofit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instantaneous mechanical load helps detect faults, verify setpoints, and characterize a system.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solution: a dedicated torque transducer or load cell.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costly relative to the motor itself and require shaft or structural modification.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justified outside of dedicated test stands — especially in teaching labs or small industrial drives.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0" y="1554480"/>
            <a:ext cx="4325112" cy="4206240"/>
          </a:xfrm>
          <a:prstGeom prst="roundRect">
            <a:avLst>
              <a:gd name="adj" fmla="val 173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74836" y="1920240"/>
            <a:ext cx="1005840" cy="10058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354" y="21817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0" y="3063240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474720"/>
            <a:ext cx="37764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signals the VFD already measures — no added sensor, no shaft modification.</a:t>
            </a:r>
            <a:endParaRPr lang="en-US" sz="1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Sensorless Signals, Already Available at the Drive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82396" y="155448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848356" y="1874520"/>
            <a:ext cx="1005840" cy="1005840"/>
          </a:xfrm>
          <a:prstGeom prst="ellipse">
            <a:avLst/>
          </a:prstGeom>
          <a:solidFill>
            <a:srgbClr val="4A90A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9874" y="21360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6716" y="30175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Slip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39596" y="3520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speed falls below synchronous speed under load. The gap — slip — grows with mechanical load torque.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68796" y="155448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334756" y="1874520"/>
            <a:ext cx="1005840" cy="10058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274" y="213603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43116" y="30175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Current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825996" y="3520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Stator current rises to produce the additional electromagnetic torque a higher load demands.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increase with load, through independent physical mechanisms — a built-in cross-check.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Signal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96112" y="24688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7612" y="2670048"/>
            <a:ext cx="731520" cy="731520"/>
          </a:xfrm>
          <a:prstGeom prst="ellipse">
            <a:avLst/>
          </a:prstGeom>
          <a:solidFill>
            <a:srgbClr val="4A90A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807" y="2860243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41832" y="34747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+ Keypad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70632" y="30632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057"/>
                </a:solidFill>
              </a:rPr>
              <a:t>↔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026664" y="24688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98164" y="2670048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59" y="2860243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72384" y="34747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STM32F401RE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Master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901184" y="30632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057"/>
                </a:solidFill>
              </a:rPr>
              <a:t>↔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157216" y="24688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28716" y="2670048"/>
            <a:ext cx="731520" cy="731520"/>
          </a:xfrm>
          <a:prstGeom prst="ellipse">
            <a:avLst/>
          </a:prstGeom>
          <a:solidFill>
            <a:srgbClr val="4A90A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911" y="2860243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02936" y="34747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7031736" y="30632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057"/>
                </a:solidFill>
              </a:rPr>
              <a:t>↔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7287768" y="24688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859268" y="2670048"/>
            <a:ext cx="731520" cy="731520"/>
          </a:xfrm>
          <a:prstGeom prst="ellipse">
            <a:avLst/>
          </a:prstGeom>
          <a:solidFill>
            <a:srgbClr val="4A90A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463" y="2860243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3488" y="34747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GS23-21P0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9162288" y="30632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057"/>
                </a:solidFill>
              </a:rPr>
              <a:t>↔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9418320" y="24688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989820" y="2670048"/>
            <a:ext cx="731520" cy="731520"/>
          </a:xfrm>
          <a:prstGeom prst="ellipse">
            <a:avLst/>
          </a:prstGeom>
          <a:solidFill>
            <a:srgbClr val="4A90A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0015" y="2860243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464040" y="34747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Motor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Load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microcontroller polls the VFD for telemetry, serves a standalone HMI, and streams a CSV log over USB.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Platform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62956" cy="1920240"/>
          </a:xfrm>
          <a:prstGeom prst="roundRect">
            <a:avLst>
              <a:gd name="adj" fmla="val 381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042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828800"/>
            <a:ext cx="38084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DURApulse GS23-21P0 VFD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423160"/>
            <a:ext cx="38084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HP class drive, single-phase in / 3-phase out, driving a 4-pole induction motor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77356" y="1554480"/>
            <a:ext cx="5362956" cy="1920240"/>
          </a:xfrm>
          <a:prstGeom prst="roundRect">
            <a:avLst>
              <a:gd name="adj" fmla="val 381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51676" y="182880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646" y="204277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03236" y="1828800"/>
            <a:ext cx="38084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 Nucleo-F401RE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603236" y="2423160"/>
            <a:ext cx="38084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HAL/LL C firmware — deterministic UART timing, no Arduino abstraction layer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362956" cy="1920240"/>
          </a:xfrm>
          <a:prstGeom prst="roundRect">
            <a:avLst>
              <a:gd name="adj" fmla="val 381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02336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423733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023360"/>
            <a:ext cx="38084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MAX485 RS-485 Transceiver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874520" y="4617720"/>
            <a:ext cx="38084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Half-duplex Modbus RTU link, single GPIO drives DE/RE direction control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77356" y="3749040"/>
            <a:ext cx="5362956" cy="1920240"/>
          </a:xfrm>
          <a:prstGeom prst="roundRect">
            <a:avLst>
              <a:gd name="adj" fmla="val 381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51676" y="402336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646" y="423733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03236" y="4023360"/>
            <a:ext cx="38084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16×2 LCD + 4×4 Keypad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603236" y="4617720"/>
            <a:ext cx="38084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operator interface — no laptop tethered to the rig</a:t>
            </a:r>
            <a:endParaRPr lang="en-US" sz="115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Modbus RTU over RS-485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code 0x03 — Read Holding Registers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baud, 8 data bits, no parity, 2 stop bits (8N2)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Drive's P09.04 parameter has no 8N1 option for RTU — framing mismatch means zero response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DE/RE direction control on a single GPIO, asserted only while transmitting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239512" cy="914400"/>
        </p:xfrm>
        <a:graphic>
          <a:graphicData uri="http://schemas.openxmlformats.org/drawingml/2006/table">
            <a:tbl>
              <a:tblPr/>
              <a:tblGrid>
                <a:gridCol w="1746504"/>
                <a:gridCol w="1746504"/>
                <a:gridCol w="174650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0x2103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÷ 100 (Hz)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Current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0x2104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÷ 100 (A)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3291840"/>
            <a:ext cx="5239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registers validated end-to-end on real hardware against GSoft2's own live monitor.</a:t>
            </a:r>
            <a:endParaRPr lang="en-US" sz="1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9B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Learned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the Hardware, Not the Manual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trike="sngStrike" dirty="0">
                <a:solidFill>
                  <a:srgbClr val="8C9B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÷10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manual-text assumption — wrong by 10×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33172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E887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÷100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429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 real hardware: raw 69 = 0.69 A — matched GSoft2 exactly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634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register scale was assumed from a summarized manual, then corrected by cross-checking a live reading against the vendor's own configuration software.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Human-Machine Interface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character LCD (PCF8574 I²C backpack) + 4×4 matrix keypad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line: live output frequency and current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most recently entered RPM / load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/ C / D select Load, RPM, Frequency, or Current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+ * (decimal) build a value, # confirms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serial commands exactly — same CSV log either way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315200" y="1554480"/>
            <a:ext cx="4325112" cy="4297680"/>
          </a:xfrm>
          <a:prstGeom prst="roundRect">
            <a:avLst>
              <a:gd name="adj" fmla="val 1702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74836" y="1920240"/>
            <a:ext cx="1005840" cy="10058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354" y="21817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3108960"/>
            <a:ext cx="37764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Operates without a laptop tethered to the rig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and integrated into the same codebase as the validated Modbus path; not yet exercised on the assembled LCD/keypad hardware.</a:t>
            </a:r>
            <a:endParaRPr lang="en-US" sz="125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Slip as a Load Proxy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Synchronous speed:  </a:t>
            </a:r>
            <a:pPr indent="0" marL="0">
              <a:buNone/>
            </a:pPr>
            <a:r>
              <a:rPr lang="en-US" sz="2000" i="1" dirty="0">
                <a:solidFill>
                  <a:srgbClr val="E8871E"/>
                </a:solidFill>
              </a:rPr>
              <a:t>N</a:t>
            </a:r>
            <a:pPr indent="0" marL="0">
              <a:buNone/>
            </a:pPr>
            <a:r>
              <a:rPr lang="en-US" sz="1400" i="1" baseline="-40000" dirty="0">
                <a:solidFill>
                  <a:srgbClr val="E8871E"/>
                </a:solidFill>
              </a:rPr>
              <a:t>s</a:t>
            </a:r>
            <a:pPr indent="0" marL="0">
              <a:buNone/>
            </a:pPr>
            <a:r>
              <a:rPr lang="en-US" sz="2000" i="1" dirty="0">
                <a:solidFill>
                  <a:srgbClr val="E8871E"/>
                </a:solidFill>
              </a:rPr>
              <a:t> = 120 f / 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Slip:  </a:t>
            </a:r>
            <a:pPr indent="0" marL="0">
              <a:buNone/>
            </a:pPr>
            <a:r>
              <a:rPr lang="en-US" sz="2000" i="1" dirty="0">
                <a:solidFill>
                  <a:srgbClr val="E8871E"/>
                </a:solidFill>
              </a:rPr>
              <a:t>s</a:t>
            </a:r>
            <a:pPr indent="0" marL="0">
              <a:buNone/>
            </a:pPr>
            <a:r>
              <a:rPr lang="en-US" sz="2000" i="1" dirty="0">
                <a:solidFill>
                  <a:srgbClr val="E8871E"/>
                </a:solidFill>
              </a:rPr>
              <a:t> = (N</a:t>
            </a:r>
            <a:pPr indent="0" marL="0">
              <a:buNone/>
            </a:pPr>
            <a:r>
              <a:rPr lang="en-US" sz="1400" i="1" baseline="-40000" dirty="0">
                <a:solidFill>
                  <a:srgbClr val="E8871E"/>
                </a:solidFill>
              </a:rPr>
              <a:t>s</a:t>
            </a:r>
            <a:pPr indent="0" marL="0">
              <a:buNone/>
            </a:pPr>
            <a:r>
              <a:rPr lang="en-US" sz="2000" i="1" dirty="0">
                <a:solidFill>
                  <a:srgbClr val="E8871E"/>
                </a:solidFill>
              </a:rPr>
              <a:t> − N</a:t>
            </a:r>
            <a:pPr indent="0" marL="0">
              <a:buNone/>
            </a:pPr>
            <a:r>
              <a:rPr lang="en-US" sz="1400" i="1" baseline="-40000" dirty="0">
                <a:solidFill>
                  <a:srgbClr val="E8871E"/>
                </a:solidFill>
              </a:rPr>
              <a:t>r</a:t>
            </a:r>
            <a:pPr indent="0" marL="0">
              <a:buNone/>
            </a:pPr>
            <a:r>
              <a:rPr lang="en-US" sz="2000" i="1" dirty="0">
                <a:solidFill>
                  <a:srgbClr val="E8871E"/>
                </a:solidFill>
              </a:rPr>
              <a:t>) / N</a:t>
            </a:r>
            <a:pPr indent="0" marL="0">
              <a:buNone/>
            </a:pPr>
            <a:r>
              <a:rPr lang="en-US" sz="1400" i="1" baseline="-40000" dirty="0">
                <a:solidFill>
                  <a:srgbClr val="E8871E"/>
                </a:solidFill>
              </a:rPr>
              <a:t>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VFD output frequency, read over Modbus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= shaft speed, from an independent reference during data collection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Four-pole motor (P = 4) → Ns = 30f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increases approximately monotonically with load torque — the physical basis for using it as a proxy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Calibration Procedure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known load via pulley + custom spool and a crane-scale reference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slip and current once the drive settles at each operating point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No-load baseline sweep establishes the unloaded slip-vs-frequency curve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load-vs-slip and load-vs-current regressions, evaluate on held-out points</a:t>
            </a:r>
            <a:endParaRPr lang="en-US" sz="1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239512" cy="914400"/>
        </p:xfrm>
        <a:graphic>
          <a:graphicData uri="http://schemas.openxmlformats.org/drawingml/2006/table">
            <a:tbl>
              <a:tblPr/>
              <a:tblGrid>
                <a:gridCol w="1746504"/>
                <a:gridCol w="1746504"/>
                <a:gridCol w="174650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Commanded f (Hz)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load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load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load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Validation Results To Date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874520"/>
            <a:ext cx="3179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9.95–16.60 Hz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904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frequency range logged over Modbus, cross-checked against GSoft2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67784" y="164592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04944" y="1874520"/>
            <a:ext cx="3179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0.67–0.70 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42104" y="2697480"/>
            <a:ext cx="2904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current at light/no load, matching GSoft2's live monitor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86928" y="164592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4088" y="1874520"/>
            <a:ext cx="3179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461248" y="2697480"/>
            <a:ext cx="2904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slip at 491 RPM / 16.60 Hz — physically consistent with a lightly loaded motor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load-sweep calibration has not yet been executed — these results validate the measurement chain itself as the precondition for that calibration to be meaningful.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to Account for in Calibration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62956" cy="146304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49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41285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Drive-reported frequency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148840"/>
            <a:ext cx="41285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Commanded/estimated, not a direct rotor-flux measurement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77356" y="1554480"/>
            <a:ext cx="5362956" cy="146304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05956" y="1783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377" y="19495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28916" y="1737360"/>
            <a:ext cx="41285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resolution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328916" y="2148840"/>
            <a:ext cx="41285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Hz / 0.01 A bounds sensitivity near no-load conditions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5362956" cy="146304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6868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474720"/>
            <a:ext cx="41285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Rotor resistance drift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886200"/>
            <a:ext cx="41285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 temperature shifts the slip-vs-torque relationship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77356" y="3291840"/>
            <a:ext cx="5362956" cy="146304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101600" dist="38100" dir="5400000">
              <a:srgbClr val="1B2A41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05956" y="352044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377" y="36868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28916" y="3474720"/>
            <a:ext cx="41285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fixture losses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7328916" y="3886200"/>
            <a:ext cx="41285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Pulley/spool friction adds unmodeled offset and scatter</a:t>
            </a:r>
            <a:endParaRPr lang="en-US" sz="115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 communication, register scaling, and the slip-computation pipeline have been validated end-to-end on real hardware.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508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395728"/>
            <a:ext cx="9674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full load-sweep calibration across the drive's operating range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" y="32854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3172968"/>
            <a:ext cx="9674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and validate slip-based and current-based load regressions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406267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00200" y="3950208"/>
            <a:ext cx="9674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up and test the HMI firmware on the assembled LCD/keypad hardware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914400" y="470916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" y="483991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0200" y="4727448"/>
            <a:ext cx="9674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networked logging / a live dashboard; repeat on other VFD/motor pairs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0604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977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B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elAmber">
  <a:themeElements>
    <a:clrScheme name="SteelAmber">
      <a:dk1>
        <a:srgbClr val="1B2A41"/>
      </a:dk1>
      <a:lt1>
        <a:srgbClr val="FFFFFF"/>
      </a:lt1>
      <a:dk2>
        <a:srgbClr val="0F1B2D"/>
      </a:dk2>
      <a:lt2>
        <a:srgbClr val="EDEFF2"/>
      </a:lt2>
      <a:accent1>
        <a:srgbClr val="E8871E"/>
      </a:accent1>
      <a:accent2>
        <a:srgbClr val="4A90A4"/>
      </a:accent2>
      <a:accent3>
        <a:srgbClr val="2E4057"/>
      </a:accent3>
      <a:accent4>
        <a:srgbClr val="C0C7CE"/>
      </a:accent4>
      <a:accent5>
        <a:srgbClr val="8C9BAB"/>
      </a:accent5>
      <a:accent6>
        <a:srgbClr val="F2B872"/>
      </a:accent6>
      <a:hlink>
        <a:srgbClr val="4A90A4"/>
      </a:hlink>
      <a:folHlink>
        <a:srgbClr val="2E4057"/>
      </a:folHlink>
    </a:clrScheme>
    <a:fontScheme name="SteelA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UNC Charlotte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Sensorless Load Estimation Using Motor Slip</dc:title>
  <dc:subject>PptxGenJS Presentation</dc:subject>
  <dc:creator>David Salisbury</dc:creator>
  <cp:lastModifiedBy>David Salisbury</cp:lastModifiedBy>
  <cp:revision>1</cp:revision>
  <dcterms:created xsi:type="dcterms:W3CDTF">2026-10-06T19:09:36Z</dcterms:created>
  <dcterms:modified xsi:type="dcterms:W3CDTF">2026-10-06T19:09:36Z</dcterms:modified>
</cp:coreProperties>
</file>